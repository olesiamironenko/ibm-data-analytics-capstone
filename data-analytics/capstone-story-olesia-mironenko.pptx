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857375"/>
  <p:embeddedFontLst>
    <p:embeddedFont>
      <p:font typeface="IBM Plex Sans"/>
      <p:regular r:id="rId25"/>
      <p:bold r:id="rId26"/>
      <p:italic r:id="rId27"/>
      <p:boldItalic r:id="rId28"/>
    </p:embeddedFont>
    <p:embeddedFont>
      <p:font typeface="IBM Plex Mono SemiBold"/>
      <p:regular r:id="rId29"/>
      <p:bold r:id="rId30"/>
      <p:italic r:id="rId31"/>
      <p:boldItalic r:id="rId32"/>
    </p:embeddedFont>
    <p:embeddedFont>
      <p:font typeface="Helvetica Neue"/>
      <p:regular r:id="rId33"/>
      <p:bold r:id="rId34"/>
      <p:italic r:id="rId35"/>
      <p:boldItalic r:id="rId36"/>
    </p:embeddedFont>
    <p:embeddedFont>
      <p:font typeface="IBM Plex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Mono-bold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BMPlexSans-bold.fntdata"/><Relationship Id="rId25" Type="http://schemas.openxmlformats.org/officeDocument/2006/relationships/font" Target="fonts/IBMPlexSans-regular.fntdata"/><Relationship Id="rId28" Type="http://schemas.openxmlformats.org/officeDocument/2006/relationships/font" Target="fonts/IBMPlexSans-boldItalic.fntdata"/><Relationship Id="rId27" Type="http://schemas.openxmlformats.org/officeDocument/2006/relationships/font" Target="fonts/IBMPlex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BMPlexMonoSemiBold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BMPlexMonoSemiBold-italic.fntdata"/><Relationship Id="rId30" Type="http://schemas.openxmlformats.org/officeDocument/2006/relationships/font" Target="fonts/IBMPlexMonoSemiBold-bold.fntdata"/><Relationship Id="rId11" Type="http://schemas.openxmlformats.org/officeDocument/2006/relationships/slide" Target="slides/slide7.xml"/><Relationship Id="rId33" Type="http://schemas.openxmlformats.org/officeDocument/2006/relationships/font" Target="fonts/HelveticaNeue-regular.fntdata"/><Relationship Id="rId10" Type="http://schemas.openxmlformats.org/officeDocument/2006/relationships/slide" Target="slides/slide6.xml"/><Relationship Id="rId32" Type="http://schemas.openxmlformats.org/officeDocument/2006/relationships/font" Target="fonts/IBMPlexMonoSemiBold-boldItalic.fntdata"/><Relationship Id="rId13" Type="http://schemas.openxmlformats.org/officeDocument/2006/relationships/slide" Target="slides/slide9.xml"/><Relationship Id="rId35" Type="http://schemas.openxmlformats.org/officeDocument/2006/relationships/font" Target="fonts/HelveticaNeue-italic.fntdata"/><Relationship Id="rId12" Type="http://schemas.openxmlformats.org/officeDocument/2006/relationships/slide" Target="slides/slide8.xml"/><Relationship Id="rId34" Type="http://schemas.openxmlformats.org/officeDocument/2006/relationships/font" Target="fonts/HelveticaNeue-bold.fntdata"/><Relationship Id="rId15" Type="http://schemas.openxmlformats.org/officeDocument/2006/relationships/slide" Target="slides/slide11.xml"/><Relationship Id="rId37" Type="http://schemas.openxmlformats.org/officeDocument/2006/relationships/font" Target="fonts/IBMPlexMono-regular.fntdata"/><Relationship Id="rId14" Type="http://schemas.openxmlformats.org/officeDocument/2006/relationships/slide" Target="slides/slide10.xml"/><Relationship Id="rId36" Type="http://schemas.openxmlformats.org/officeDocument/2006/relationships/font" Target="fonts/HelveticaNeue-boldItalic.fntdata"/><Relationship Id="rId17" Type="http://schemas.openxmlformats.org/officeDocument/2006/relationships/slide" Target="slides/slide13.xml"/><Relationship Id="rId39" Type="http://schemas.openxmlformats.org/officeDocument/2006/relationships/font" Target="fonts/IBMPlexMono-italic.fntdata"/><Relationship Id="rId16" Type="http://schemas.openxmlformats.org/officeDocument/2006/relationships/slide" Target="slides/slide12.xml"/><Relationship Id="rId38" Type="http://schemas.openxmlformats.org/officeDocument/2006/relationships/font" Target="fonts/IBMPlexMono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838200" y="1364249"/>
            <a:ext cx="10515600" cy="3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3" name="Google Shape;23;p3"/>
          <p:cNvCxnSpPr/>
          <p:nvPr/>
        </p:nvCxnSpPr>
        <p:spPr>
          <a:xfrm>
            <a:off x="838200" y="1296645"/>
            <a:ext cx="10515600" cy="3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ctrTitle"/>
          </p:nvPr>
        </p:nvSpPr>
        <p:spPr>
          <a:xfrm>
            <a:off x="2880360" y="1168401"/>
            <a:ext cx="643128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800"/>
              <a:buFont typeface="IBM Plex Mono SemiBold"/>
              <a:buNone/>
              <a:defRPr sz="48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2880360" y="3731247"/>
            <a:ext cx="643128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2400"/>
              <a:buNone/>
              <a:defRPr b="1" sz="2400">
                <a:solidFill>
                  <a:srgbClr val="00B0F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27" name="Google Shape;27;p4"/>
          <p:cNvCxnSpPr/>
          <p:nvPr/>
        </p:nvCxnSpPr>
        <p:spPr>
          <a:xfrm>
            <a:off x="2880360" y="3649111"/>
            <a:ext cx="643128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" name="Google Shape;28;p4"/>
          <p:cNvSpPr/>
          <p:nvPr/>
        </p:nvSpPr>
        <p:spPr>
          <a:xfrm>
            <a:off x="4093580" y="5537419"/>
            <a:ext cx="4004840" cy="304359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IBM Corporation. All rights reserved.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6000"/>
              <a:buFont typeface="IBM Plex Mono SemiBold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800"/>
              <a:buFont typeface="IBM Plex Mono SemiBold"/>
              <a:buNone/>
              <a:defRPr sz="48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2" name="Google Shape;4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0139" y="6371623"/>
            <a:ext cx="2456070" cy="378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5870" y="6371623"/>
            <a:ext cx="3375991" cy="397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 showMasterSp="0">
  <p:cSld name="3_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0139" y="6371623"/>
            <a:ext cx="2456070" cy="378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5870" y="6371623"/>
            <a:ext cx="3375991" cy="397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3200"/>
              <a:buFont typeface="IBM Plex Mono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Char char="•"/>
              <a:defRPr sz="3200"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  <a:defRPr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  <a:defRPr sz="2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  <a:defRPr sz="2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3200"/>
              <a:buFont typeface="IBM Plex Mono SemiBold"/>
              <a:buNone/>
              <a:defRPr sz="3200"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  <a:defRPr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 rot="5400000">
            <a:off x="3920331" y="-1234281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6.png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  <a:defRPr b="0" i="0" sz="4000" u="none" cap="none" strike="noStrike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40139" y="6371623"/>
            <a:ext cx="2456070" cy="378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75870" y="6371623"/>
            <a:ext cx="3375991" cy="397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3">
            <a:alphaModFix amt="3000"/>
          </a:blip>
          <a:srcRect b="0" l="0" r="0" t="0"/>
          <a:stretch/>
        </p:blipFill>
        <p:spPr>
          <a:xfrm>
            <a:off x="1066800" y="861346"/>
            <a:ext cx="10058400" cy="569975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6172200" y="2345725"/>
            <a:ext cx="53415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lang="en-US">
                <a:solidFill>
                  <a:srgbClr val="0E659B"/>
                </a:solidFill>
              </a:rPr>
              <a:t>Understanding the Modern Developer Community</a:t>
            </a:r>
            <a:endParaRPr>
              <a:solidFill>
                <a:srgbClr val="0E659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E659B"/>
              </a:buClr>
              <a:buSzPct val="100000"/>
              <a:buFont typeface="IBM Plex Mono SemiBold"/>
              <a:buNone/>
            </a:pPr>
            <a:r>
              <a:t/>
            </a:r>
            <a:endParaRPr>
              <a:solidFill>
                <a:srgbClr val="0E659B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569" y="1825625"/>
            <a:ext cx="4794861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idx="2" type="body"/>
          </p:nvPr>
        </p:nvSpPr>
        <p:spPr>
          <a:xfrm>
            <a:off x="6172200" y="3861099"/>
            <a:ext cx="5181600" cy="23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/>
              <a:t>Olesia Mironenko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/>
              <a:t>June 24,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0711" y="2025672"/>
            <a:ext cx="3194581" cy="319458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>
            <p:ph type="title"/>
          </p:nvPr>
        </p:nvSpPr>
        <p:spPr>
          <a:xfrm>
            <a:off x="782054" y="263810"/>
            <a:ext cx="850852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76" name="Google Shape;76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/>
              <a:t>Executive Summary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/>
              <a:t>Introduction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/>
              <a:t>Methodology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/>
              <a:t>Results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 sz="1800"/>
              <a:t>Visualization – Charts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 sz="1800"/>
              <a:t>Dashboard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/>
              <a:t>Discussion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</a:pPr>
            <a:r>
              <a:rPr lang="en-US" sz="1800"/>
              <a:t>Findings &amp; Implications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/>
              <a:t>Conclusion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Char char="•"/>
            </a:pPr>
            <a:r>
              <a:rPr lang="en-US" sz="2200"/>
              <a:t>Appendix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733926" y="304965"/>
            <a:ext cx="8565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EXECUTIVE SUMMARY</a:t>
            </a:r>
            <a:endParaRPr/>
          </a:p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285075" y="1825624"/>
            <a:ext cx="7068725" cy="4465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159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b="1" lang="en-US" sz="2000"/>
              <a:t>Project Objective</a:t>
            </a:r>
            <a:r>
              <a:rPr lang="en-US" sz="2000"/>
              <a:t>: Analyze developer technology trends and demographics</a:t>
            </a:r>
            <a:endParaRPr sz="2000"/>
          </a:p>
          <a:p>
            <a:pPr indent="-215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b="1" lang="en-US" sz="2000"/>
              <a:t>Data Sources:</a:t>
            </a:r>
            <a:endParaRPr b="1" sz="2000"/>
          </a:p>
          <a:p>
            <a:pPr indent="-2159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Char char="•"/>
            </a:pPr>
            <a:r>
              <a:rPr lang="en-US" sz="1600"/>
              <a:t>Technology survey data</a:t>
            </a:r>
            <a:endParaRPr sz="1600"/>
          </a:p>
          <a:p>
            <a:pPr indent="-2159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Char char="•"/>
            </a:pPr>
            <a:r>
              <a:rPr lang="en-US" sz="1600"/>
              <a:t>Demographic survey data</a:t>
            </a:r>
            <a:endParaRPr sz="1600"/>
          </a:p>
          <a:p>
            <a:pPr indent="-215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b="1" lang="en-US" sz="2000"/>
              <a:t>Analysis Areas:</a:t>
            </a:r>
            <a:endParaRPr b="1" sz="2000"/>
          </a:p>
          <a:p>
            <a:pPr indent="-215900" lvl="1" marL="685800" rtl="0" algn="l"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Current Technology Usage</a:t>
            </a:r>
            <a:endParaRPr sz="1600"/>
          </a:p>
          <a:p>
            <a:pPr indent="-215900" lvl="1" marL="685800" rtl="0" algn="l"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Future Technology Trends</a:t>
            </a:r>
            <a:endParaRPr sz="1600"/>
          </a:p>
          <a:p>
            <a:pPr indent="-215900" lvl="1" marL="685800" rtl="0" algn="l"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Developer Demographics</a:t>
            </a:r>
            <a:endParaRPr sz="1600"/>
          </a:p>
          <a:p>
            <a:pPr indent="-215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b="1" lang="en-US" sz="2000"/>
              <a:t>Key Deliverable: </a:t>
            </a:r>
            <a:r>
              <a:rPr lang="en-US" sz="2000"/>
              <a:t>Developed interactive dashboards and visualizations</a:t>
            </a:r>
            <a:endParaRPr sz="2000"/>
          </a:p>
          <a:p>
            <a:pPr indent="-215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b="1" lang="en-US" sz="2000"/>
              <a:t>Business Value: </a:t>
            </a:r>
            <a:r>
              <a:rPr lang="en-US" sz="2000"/>
              <a:t>Provides insights into technology adoption, emerging trends, and the characteristics of the developer community</a:t>
            </a:r>
            <a:endParaRPr sz="2000"/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0494" y="2302762"/>
            <a:ext cx="3194581" cy="3194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770021" y="365125"/>
            <a:ext cx="764786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INTRODUCTION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347" y="2262036"/>
            <a:ext cx="3054361" cy="305436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b="1" lang="en-US" sz="2000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Report Purpose: </a:t>
            </a:r>
            <a:r>
              <a:rPr lang="en-US" sz="2000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Analyze developer survey data to understand technology usage, future technology preferences, and demographic characteristics.</a:t>
            </a:r>
            <a:endParaRPr sz="20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2159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b="1" lang="en-US" sz="2000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Intended Audience: </a:t>
            </a:r>
            <a:r>
              <a:rPr lang="en-US" sz="2000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Technology professionals, students, and decision-makers.</a:t>
            </a:r>
            <a:endParaRPr sz="20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2159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b="1" lang="en-US" sz="2000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Data Scope: </a:t>
            </a:r>
            <a:r>
              <a:rPr lang="en-US" sz="2000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Developer survey data on technology usage and preferences.</a:t>
            </a:r>
            <a:endParaRPr sz="2000"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-2159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b="1" lang="en-US" sz="2000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Key Benefits:</a:t>
            </a:r>
            <a:endParaRPr b="1" sz="2000"/>
          </a:p>
          <a:p>
            <a:pPr indent="-2159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Understand current and emerging technology trends.</a:t>
            </a:r>
            <a:endParaRPr sz="1600"/>
          </a:p>
          <a:p>
            <a:pPr indent="-2159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Gain insights into the developer community.</a:t>
            </a:r>
            <a:endParaRPr b="0" i="0" sz="1600" u="none" cap="none" strike="noStrike">
              <a:solidFill>
                <a:srgbClr val="0070C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782053" y="376642"/>
            <a:ext cx="723072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97" name="Google Shape;97;p19"/>
          <p:cNvSpPr txBox="1"/>
          <p:nvPr>
            <p:ph idx="2" type="body"/>
          </p:nvPr>
        </p:nvSpPr>
        <p:spPr>
          <a:xfrm>
            <a:off x="4285075" y="1825625"/>
            <a:ext cx="70687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b="1" lang="en-US" sz="2000"/>
              <a:t>Data Sources:</a:t>
            </a:r>
            <a:endParaRPr b="1" sz="2000"/>
          </a:p>
          <a:p>
            <a:pPr indent="-215900" lvl="1" marL="685800" rtl="0" algn="l"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Technology survey dataset</a:t>
            </a:r>
            <a:endParaRPr sz="1600"/>
          </a:p>
          <a:p>
            <a:pPr indent="-215900" lvl="1" marL="685800" rtl="0" algn="l"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Demographics survey dataset</a:t>
            </a:r>
            <a:endParaRPr b="1" sz="2000"/>
          </a:p>
          <a:p>
            <a:pPr indent="-215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b="1" lang="en-US" sz="2000"/>
              <a:t>Data Collection:</a:t>
            </a:r>
            <a:endParaRPr b="1" sz="2000"/>
          </a:p>
          <a:p>
            <a:pPr indent="-2159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Survey responses collected from participants in the technology community</a:t>
            </a:r>
            <a:endParaRPr sz="1600"/>
          </a:p>
          <a:p>
            <a:pPr indent="-215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b="1" lang="en-US" sz="2000"/>
              <a:t>Data Preparation:</a:t>
            </a:r>
            <a:endParaRPr b="1" sz="2000"/>
          </a:p>
          <a:p>
            <a:pPr indent="-2159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Filtered and aggregated survey data for analysis</a:t>
            </a:r>
            <a:endParaRPr sz="1600"/>
          </a:p>
          <a:p>
            <a:pPr indent="-215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b="1" lang="en-US" sz="2000"/>
              <a:t>Analysis &amp; Visualization:</a:t>
            </a:r>
            <a:endParaRPr b="1" sz="2000"/>
          </a:p>
          <a:p>
            <a:pPr indent="-2159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Char char="•"/>
            </a:pPr>
            <a:r>
              <a:rPr lang="en-US" sz="1600"/>
              <a:t>Identified technology and demographic trends</a:t>
            </a:r>
            <a:endParaRPr sz="1600"/>
          </a:p>
          <a:p>
            <a:pPr indent="-2159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Char char="•"/>
            </a:pPr>
            <a:r>
              <a:rPr lang="en-US" sz="1600"/>
              <a:t>Created visualizations and dashboards in Looker Studio</a:t>
            </a:r>
            <a:endParaRPr sz="1600"/>
          </a:p>
        </p:txBody>
      </p:sp>
      <p:pic>
        <p:nvPicPr>
          <p:cNvPr id="98" name="Google Shape;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9655" y="1831709"/>
            <a:ext cx="3194581" cy="3194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104" name="Google Shape;104;p20"/>
          <p:cNvSpPr txBox="1"/>
          <p:nvPr>
            <p:ph idx="2" type="body"/>
          </p:nvPr>
        </p:nvSpPr>
        <p:spPr>
          <a:xfrm>
            <a:off x="1043125" y="1825625"/>
            <a:ext cx="9773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3200" lvl="0" marL="2286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Developed 3 interactive dashboards using Looker Studio.</a:t>
            </a:r>
            <a:endParaRPr sz="2400"/>
          </a:p>
          <a:p>
            <a:pPr indent="-203200" lvl="0" marL="2286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Created 12 visualizations covering technology usage, future trends, and demographics.</a:t>
            </a:r>
            <a:endParaRPr sz="2400"/>
          </a:p>
          <a:p>
            <a:pPr indent="-203200" lvl="0" marL="2286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Identified patterns in programming languages, databases, platforms, web frameworks, and respondent characteristics.</a:t>
            </a:r>
            <a:endParaRPr sz="2400"/>
          </a:p>
          <a:p>
            <a:pPr indent="-203200" lvl="0" marL="2286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Generated insights to support technology planning and data-driven decision-making.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PROGRAMMING LANGUAGE TRENDS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813827" y="1825625"/>
            <a:ext cx="28104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/>
              <a:t>Current Year</a:t>
            </a:r>
            <a:endParaRPr/>
          </a:p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6172200" y="1825625"/>
            <a:ext cx="21633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/>
              <a:t>Next Year</a:t>
            </a:r>
            <a:endParaRPr/>
          </a:p>
        </p:txBody>
      </p:sp>
      <p:sp>
        <p:nvSpPr>
          <p:cNvPr id="112" name="Google Shape;112;p21"/>
          <p:cNvSpPr txBox="1"/>
          <p:nvPr/>
        </p:nvSpPr>
        <p:spPr>
          <a:xfrm>
            <a:off x="838199" y="2506661"/>
            <a:ext cx="4614949" cy="3670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&lt;Bar chart of top 10 programming languages for the current year goes here.&gt;</a:t>
            </a:r>
            <a:endParaRPr/>
          </a:p>
        </p:txBody>
      </p:sp>
      <p:sp>
        <p:nvSpPr>
          <p:cNvPr id="113" name="Google Shape;113;p21"/>
          <p:cNvSpPr txBox="1"/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&lt; Bar chart of top 10 programming languages for the next year goes here.&gt;</a:t>
            </a:r>
            <a:endParaRPr/>
          </a:p>
        </p:txBody>
      </p:sp>
      <p:pic>
        <p:nvPicPr>
          <p:cNvPr id="114" name="Google Shape;114;p21" title="Screenshot 2026-06-24 at 5.29.2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250" y="2506650"/>
            <a:ext cx="5409757" cy="36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 title="Screenshot 2026-06-24 at 5.29.0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6500" y="2411453"/>
            <a:ext cx="6072025" cy="380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2800"/>
              <a:buFont typeface="IBM Plex Mono SemiBold"/>
              <a:buNone/>
            </a:pPr>
            <a:r>
              <a:rPr lang="en-US" sz="2800"/>
              <a:t>PROGRAMMING LANGUAGE TRENDS - FINDINGS &amp; IMPLICATIONS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813825" y="1825625"/>
            <a:ext cx="51816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/>
              <a:t>Findings</a:t>
            </a:r>
            <a:endParaRPr/>
          </a:p>
          <a:p>
            <a:pPr indent="-152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Char char="•"/>
            </a:pPr>
            <a:r>
              <a:rPr lang="en-US" sz="1600"/>
              <a:t>JavaScript remains the most widely used and most desired programming language among respondents.</a:t>
            </a:r>
            <a:endParaRPr sz="1600"/>
          </a:p>
          <a:p>
            <a:pPr indent="-152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Char char="•"/>
            </a:pPr>
            <a:r>
              <a:rPr lang="en-US" sz="1600"/>
              <a:t>Python and TypeScript show strong growth in future preference rankings, indicating increasing interest in these technologies.</a:t>
            </a:r>
            <a:endParaRPr sz="1600"/>
          </a:p>
          <a:p>
            <a:pPr indent="-152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Char char="•"/>
            </a:pPr>
            <a:r>
              <a:rPr lang="en-US" sz="1600"/>
              <a:t>SQL, HTML/CSS, and Java continue to maintain significant relevance across the technology landscape.</a:t>
            </a:r>
            <a:endParaRPr sz="1600"/>
          </a:p>
          <a:p>
            <a:pPr indent="-152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Kotlin appears among the top desired languages despite not being among the most widely used currently.</a:t>
            </a:r>
            <a:endParaRPr sz="1600"/>
          </a:p>
          <a:p>
            <a:pPr indent="-152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Some established languages, such as C++, show lower future interest compared to emerging alternatives.</a:t>
            </a:r>
            <a:endParaRPr sz="1600"/>
          </a:p>
        </p:txBody>
      </p:sp>
      <p:sp>
        <p:nvSpPr>
          <p:cNvPr id="122" name="Google Shape;122;p22"/>
          <p:cNvSpPr txBox="1"/>
          <p:nvPr>
            <p:ph idx="2" type="body"/>
          </p:nvPr>
        </p:nvSpPr>
        <p:spPr>
          <a:xfrm>
            <a:off x="6172200" y="1825625"/>
            <a:ext cx="5181600" cy="4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/>
              <a:t>Implications</a:t>
            </a:r>
            <a:endParaRPr sz="1600"/>
          </a:p>
          <a:p>
            <a:pPr indent="-152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Char char="•"/>
            </a:pPr>
            <a:r>
              <a:rPr lang="en-US" sz="1600"/>
              <a:t>Demand for web development skills is expected to remain strong, particularly in the JavaScript ecosystem.</a:t>
            </a:r>
            <a:endParaRPr sz="1600"/>
          </a:p>
          <a:p>
            <a:pPr indent="-152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Char char="•"/>
            </a:pPr>
            <a:r>
              <a:rPr lang="en-US" sz="1600"/>
              <a:t>Professionals seeking career growth may benefit from developing Python and TypeScript expertise.</a:t>
            </a:r>
            <a:endParaRPr sz="1600"/>
          </a:p>
          <a:p>
            <a:pPr indent="-152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Char char="•"/>
            </a:pPr>
            <a:r>
              <a:rPr lang="en-US" sz="1600"/>
              <a:t>Organizations should monitor emerging technologies and evolving developer preferences when planning training and hiring strategies.</a:t>
            </a:r>
            <a:endParaRPr sz="1600"/>
          </a:p>
          <a:p>
            <a:pPr indent="-152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Continuous learning and skill development are essential to remain competitive in a rapidly changing technology environment.</a:t>
            </a:r>
            <a:endParaRPr sz="1600"/>
          </a:p>
          <a:p>
            <a:pPr indent="-152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Technology adoption trends suggest a growing focus on modern, scalable, and data-driven development practices.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862584" y="4287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DATABASE TRENDS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813825" y="1825625"/>
            <a:ext cx="3019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/>
              <a:t>Current</a:t>
            </a:r>
            <a:r>
              <a:rPr lang="en-US"/>
              <a:t> </a:t>
            </a:r>
            <a:r>
              <a:rPr lang="en-US"/>
              <a:t>Year</a:t>
            </a:r>
            <a:endParaRPr/>
          </a:p>
        </p:txBody>
      </p:sp>
      <p:sp>
        <p:nvSpPr>
          <p:cNvPr id="129" name="Google Shape;129;p23"/>
          <p:cNvSpPr txBox="1"/>
          <p:nvPr>
            <p:ph idx="2" type="body"/>
          </p:nvPr>
        </p:nvSpPr>
        <p:spPr>
          <a:xfrm>
            <a:off x="6172200" y="1825625"/>
            <a:ext cx="31251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/>
              <a:t>Next Year</a:t>
            </a:r>
            <a:endParaRPr/>
          </a:p>
        </p:txBody>
      </p:sp>
      <p:sp>
        <p:nvSpPr>
          <p:cNvPr id="130" name="Google Shape;130;p23"/>
          <p:cNvSpPr txBox="1"/>
          <p:nvPr/>
        </p:nvSpPr>
        <p:spPr>
          <a:xfrm>
            <a:off x="838199" y="2506661"/>
            <a:ext cx="4614949" cy="3670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&lt; Bar chart of top 10 databases for the current year goes here &gt;</a:t>
            </a:r>
            <a:endParaRPr/>
          </a:p>
        </p:txBody>
      </p:sp>
      <p:sp>
        <p:nvSpPr>
          <p:cNvPr id="131" name="Google Shape;131;p23"/>
          <p:cNvSpPr txBox="1"/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70C0"/>
                </a:solidFill>
                <a:latin typeface="IBM Plex Mono"/>
                <a:ea typeface="IBM Plex Mono"/>
                <a:cs typeface="IBM Plex Mono"/>
                <a:sym typeface="IBM Plex Mono"/>
              </a:rPr>
              <a:t>&lt; Bar chart of top 10 databases for the next year goes here.&gt;</a:t>
            </a:r>
            <a:endParaRPr/>
          </a:p>
        </p:txBody>
      </p:sp>
      <p:pic>
        <p:nvPicPr>
          <p:cNvPr id="132" name="Google Shape;132;p23" title="Screenshot 2026-06-24 at 5.42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325" y="2311225"/>
            <a:ext cx="5267999" cy="406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Screenshot 2026-06-24 at 5.47.4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5550" y="2241525"/>
            <a:ext cx="5972947" cy="406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25" y="365125"/>
            <a:ext cx="12192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 sz="3600"/>
              <a:t>DATABASE TRENDS - FINDINGS &amp; IMPLICATIONS</a:t>
            </a:r>
            <a:endParaRPr sz="3600"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813825" y="1825625"/>
            <a:ext cx="5181600" cy="44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/>
              <a:t>Findings</a:t>
            </a:r>
            <a:endParaRPr/>
          </a:p>
          <a:p>
            <a:pPr indent="-152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Char char="•"/>
            </a:pPr>
            <a:r>
              <a:rPr lang="en-US" sz="1600"/>
              <a:t>MySQL is currently the most widely used database, but PostgreSQL becomes the most desired database for next year.</a:t>
            </a:r>
            <a:endParaRPr sz="1600"/>
          </a:p>
          <a:p>
            <a:pPr indent="-152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Char char="•"/>
            </a:pPr>
            <a:r>
              <a:rPr lang="en-US" sz="1600"/>
              <a:t>PostgreSQL, MongoDB, Redis, and Elasticsearch all move up in future preference rankings, indicating growing interest in these technologies.</a:t>
            </a:r>
            <a:endParaRPr sz="1600"/>
          </a:p>
          <a:p>
            <a:pPr indent="-152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Char char="•"/>
            </a:pPr>
            <a:r>
              <a:rPr lang="en-US" sz="1600"/>
              <a:t>Traditional relational databases such as MySQL and Microsoft SQL Server remain highly relevant but show relatively lower future preference compared to current usage.</a:t>
            </a:r>
            <a:endParaRPr sz="1600"/>
          </a:p>
          <a:p>
            <a:pPr indent="-152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Firebase declines in current usage rankings but remains a desired option for future adoption, suggesting continued interest in cloud-native development.</a:t>
            </a:r>
            <a:endParaRPr sz="1600"/>
          </a:p>
          <a:p>
            <a:pPr indent="-152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DynamoDB enters the future top 10 despite not appearing among the most-used databases currently.</a:t>
            </a:r>
            <a:endParaRPr sz="1600"/>
          </a:p>
        </p:txBody>
      </p:sp>
      <p:sp>
        <p:nvSpPr>
          <p:cNvPr id="140" name="Google Shape;140;p24"/>
          <p:cNvSpPr txBox="1"/>
          <p:nvPr>
            <p:ph idx="2" type="body"/>
          </p:nvPr>
        </p:nvSpPr>
        <p:spPr>
          <a:xfrm>
            <a:off x="6172200" y="1825625"/>
            <a:ext cx="51816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75000"/>
              <a:buNone/>
            </a:pPr>
            <a:r>
              <a:rPr lang="en-US"/>
              <a:t>Implications</a:t>
            </a:r>
            <a:endParaRPr sz="1600"/>
          </a:p>
          <a:p>
            <a:pPr indent="-1447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 sz="1600"/>
              <a:t>Organizations may see increased adoption of PostgreSQL due to its flexibility, open-source ecosystem, and broad support for modern applications.</a:t>
            </a:r>
            <a:endParaRPr sz="1600"/>
          </a:p>
          <a:p>
            <a:pPr indent="-1447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 sz="1600"/>
              <a:t>Demand for NoSQL and distributed data technologies such as MongoDB, Redis, and DynamoDB is likely to continue growing.</a:t>
            </a:r>
            <a:endParaRPr sz="1600"/>
          </a:p>
          <a:p>
            <a:pPr indent="-1447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 sz="1600"/>
              <a:t>Database professionals should consider expanding skills beyond traditional relational databases to include cloud and NoSQL platforms.</a:t>
            </a:r>
            <a:endParaRPr sz="1600"/>
          </a:p>
          <a:p>
            <a:pPr indent="-1447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1600"/>
              <a:t>Training and hiring strategies should account for increasing interest in scalable, high-performance, and cloud-native database solutions.</a:t>
            </a:r>
            <a:endParaRPr sz="1600"/>
          </a:p>
          <a:p>
            <a:pPr indent="-1447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1600"/>
              <a:t>The database landscape is becoming more diverse, requiring organizations to support multiple data storage technologies for different business needs.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DASHBOARD</a:t>
            </a:r>
            <a:endParaRPr/>
          </a:p>
        </p:txBody>
      </p:sp>
      <p:sp>
        <p:nvSpPr>
          <p:cNvPr id="146" name="Google Shape;146;p25"/>
          <p:cNvSpPr txBox="1"/>
          <p:nvPr>
            <p:ph idx="2" type="body"/>
          </p:nvPr>
        </p:nvSpPr>
        <p:spPr>
          <a:xfrm>
            <a:off x="4285075" y="2459185"/>
            <a:ext cx="7068600" cy="25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None/>
            </a:pPr>
            <a:r>
              <a:rPr lang="en-US" sz="2200"/>
              <a:t>Dashboard on Google Data Studio / former Looker Studio (alternative to Cognos dashboard):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None/>
            </a:pPr>
            <a:r>
              <a:rPr lang="en-US" sz="2200"/>
              <a:t>https://datastudio.google.com/reporting/fa207be8-e459-4e46-afaa-547c3817393e</a:t>
            </a:r>
            <a:endParaRPr sz="2200"/>
          </a:p>
        </p:txBody>
      </p:sp>
      <p:pic>
        <p:nvPicPr>
          <p:cNvPr id="147" name="Google Shape;1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475" y="1901819"/>
            <a:ext cx="3054361" cy="3054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DASHBOARD TAB 1</a:t>
            </a:r>
            <a:endParaRPr/>
          </a:p>
        </p:txBody>
      </p:sp>
      <p:pic>
        <p:nvPicPr>
          <p:cNvPr id="153" name="Google Shape;153;p26" title="Screenshot 2026-06-24 at 6.07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0025" y="1331400"/>
            <a:ext cx="5951949" cy="506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DASHBOARD TAB 2</a:t>
            </a:r>
            <a:endParaRPr/>
          </a:p>
        </p:txBody>
      </p:sp>
      <p:pic>
        <p:nvPicPr>
          <p:cNvPr id="159" name="Google Shape;159;p27" title="Screenshot 2026-06-24 at 6.08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8350" y="1352675"/>
            <a:ext cx="6375298" cy="502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DASHBOARD TAB 3</a:t>
            </a:r>
            <a:endParaRPr/>
          </a:p>
        </p:txBody>
      </p:sp>
      <p:pic>
        <p:nvPicPr>
          <p:cNvPr id="165" name="Google Shape;165;p28" title="Screenshot 2026-06-24 at 6.10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8512" y="1373712"/>
            <a:ext cx="6174974" cy="498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DISCUSSION</a:t>
            </a:r>
            <a:endParaRPr/>
          </a:p>
        </p:txBody>
      </p:sp>
      <p:pic>
        <p:nvPicPr>
          <p:cNvPr id="171" name="Google Shape;171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sz="2000"/>
              <a:t>Current technology usage reflects the continued importance of established tools.</a:t>
            </a:r>
            <a:endParaRPr sz="2000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t/>
            </a:r>
            <a:endParaRPr sz="2000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sz="2000"/>
              <a:t>Future preferences, on the other hand, point toward greater adoption of modern, cloud-based, and data-focused technologies.</a:t>
            </a:r>
            <a:endParaRPr sz="2000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t/>
            </a:r>
            <a:endParaRPr sz="2000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sz="2000"/>
              <a:t>Understanding these trends supports informed decisions in technology investment, hiring, and professional development.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OVERALL FINDINGS &amp; IMPLICATIONS</a:t>
            </a:r>
            <a:endParaRPr/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813816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/>
              <a:t>Findings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t/>
            </a:r>
            <a:endParaRPr/>
          </a:p>
          <a:p>
            <a:pPr indent="-177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lang="en-US" sz="2000"/>
              <a:t>The analysis highlights clear patterns in technology adoption and future preferences.</a:t>
            </a:r>
            <a:endParaRPr sz="2000"/>
          </a:p>
          <a:p>
            <a:pPr indent="-177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lang="en-US" sz="2000"/>
              <a:t>Demographic data enhances understanding of the technology landscape.</a:t>
            </a:r>
            <a:endParaRPr sz="2000"/>
          </a:p>
          <a:p>
            <a:pPr indent="-177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lang="en-US" sz="2000"/>
              <a:t>Interactive dashboards provide an effective way to explore complex survey results.</a:t>
            </a:r>
            <a:endParaRPr sz="2000"/>
          </a:p>
        </p:txBody>
      </p:sp>
      <p:sp>
        <p:nvSpPr>
          <p:cNvPr id="179" name="Google Shape;179;p30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/>
              <a:t>Implications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t/>
            </a:r>
            <a:endParaRPr sz="2000"/>
          </a:p>
          <a:p>
            <a:pPr indent="-177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lang="en-US" sz="2000"/>
              <a:t>Data-driven insights support informed decision-making.</a:t>
            </a:r>
            <a:endParaRPr sz="2000"/>
          </a:p>
          <a:p>
            <a:pPr indent="-177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lang="en-US" sz="2000"/>
              <a:t>Regular trend analysis helps anticipate changes in the technology ecosystem.</a:t>
            </a:r>
            <a:endParaRPr sz="2000"/>
          </a:p>
          <a:p>
            <a:pPr indent="-177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lang="en-US" sz="2000"/>
              <a:t>Visual analytics makes large survey datasets more accessible and actionable.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85" name="Google Shape;185;p31"/>
          <p:cNvSpPr txBox="1"/>
          <p:nvPr>
            <p:ph idx="2" type="body"/>
          </p:nvPr>
        </p:nvSpPr>
        <p:spPr>
          <a:xfrm>
            <a:off x="4544291" y="1825625"/>
            <a:ext cx="680950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52095" lvl="0" marL="22860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Survey data reveals both stable technology adoption patterns and emerging technology trends.</a:t>
            </a:r>
            <a:endParaRPr/>
          </a:p>
          <a:p>
            <a:pPr indent="-252095" lvl="0" marL="22860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Interactive dashboards effectively transform complex survey data into clear, actionable insights.</a:t>
            </a:r>
            <a:endParaRPr/>
          </a:p>
          <a:p>
            <a:pPr indent="-252095" lvl="0" marL="22860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Combining technology and demographic analysis provides a more comprehensive understanding of the technology landscape.</a:t>
            </a:r>
            <a:endParaRPr/>
          </a:p>
          <a:p>
            <a:pPr indent="-252095" lvl="0" marL="22860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The findings can support informed decisions in technology planning, workforce development, and professional learning.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967" y="2113896"/>
            <a:ext cx="3054361" cy="3054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APPENDIX</a:t>
            </a:r>
            <a:endParaRPr/>
          </a:p>
        </p:txBody>
      </p:sp>
      <p:sp>
        <p:nvSpPr>
          <p:cNvPr id="192" name="Google Shape;192;p32"/>
          <p:cNvSpPr txBox="1"/>
          <p:nvPr>
            <p:ph idx="2" type="body"/>
          </p:nvPr>
        </p:nvSpPr>
        <p:spPr>
          <a:xfrm>
            <a:off x="4544291" y="1825625"/>
            <a:ext cx="680950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/>
              <a:t>Include any relevant additional charts, or tables that you may have created during the analysis phase.</a:t>
            </a:r>
            <a:endParaRPr/>
          </a:p>
        </p:txBody>
      </p:sp>
      <p:pic>
        <p:nvPicPr>
          <p:cNvPr id="193" name="Google Shape;193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857" y="1849823"/>
            <a:ext cx="3194581" cy="3194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538248" y="383051"/>
            <a:ext cx="592905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 JOB POSTINGS</a:t>
            </a:r>
            <a:endParaRPr/>
          </a:p>
        </p:txBody>
      </p:sp>
      <p:pic>
        <p:nvPicPr>
          <p:cNvPr id="199" name="Google Shape;199;p33" title="Screenshot 2026-06-24 at 7.01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050" y="2348875"/>
            <a:ext cx="5770650" cy="326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3" title="Screenshot 2026-06-24 at 7.01.3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3025" y="2333027"/>
            <a:ext cx="5657501" cy="3300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538248" y="383051"/>
            <a:ext cx="592905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000"/>
              <a:buFont typeface="IBM Plex Mono SemiBold"/>
              <a:buNone/>
            </a:pPr>
            <a:r>
              <a:rPr lang="en-US"/>
              <a:t>POPULAR LANGUAGES</a:t>
            </a:r>
            <a:endParaRPr/>
          </a:p>
        </p:txBody>
      </p:sp>
      <p:pic>
        <p:nvPicPr>
          <p:cNvPr id="206" name="Google Shape;206;p34" title="Screenshot 2026-06-24 at 7.10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825" y="1428889"/>
            <a:ext cx="9872348" cy="4844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_TEMPLATE_skill_network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